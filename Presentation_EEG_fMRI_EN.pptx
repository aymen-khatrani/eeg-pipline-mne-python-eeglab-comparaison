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128016" cy="128016"/>
          </a:xfrm>
          <a:prstGeom prst="ellipse">
            <a:avLst/>
          </a:prstGeom>
          <a:solidFill>
            <a:srgbClr val="56C7E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713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6C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EEG-fMRI  ·  MNE-PYTHON  ·  MACHINE LEARNING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the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EEG-fMRI pipeline in Python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faithful reproduction of an EEGLAB preprocessing pipeline, adding a machine-learning component for ICA-component classification, and a quantitative EEGLAB-to-Python validation.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Aymen Khatrani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29000" y="52120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MIMLAB, Boğaziçi University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52120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Pınar S. Özbay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06840" y="52120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ISIA tutor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Dhaenens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&amp; 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EEG inside the scanner: a signal buried under artifacts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71516" cy="2194560"/>
          </a:xfrm>
          <a:prstGeom prst="roundRect">
            <a:avLst>
              <a:gd name="adj" fmla="val 375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5000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COMPLEMENTARY MODALITIES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734056"/>
            <a:ext cx="48143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brings temporal precision (milliseconds), functional MRI spatial precision (millimeters). Recording them simultaneously combines the best of both.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2148840"/>
            <a:ext cx="5271516" cy="2194560"/>
          </a:xfrm>
          <a:prstGeom prst="roundRect">
            <a:avLst>
              <a:gd name="adj" fmla="val 375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5956" y="235000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648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PRICE TO PAY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5956" y="2734056"/>
            <a:ext cx="48143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scanner, the EEG is contaminated by the gradient artifact (~1 mV, i.e. x1000 the useful EEG) and the pulse / BCG artifact linked to the heartbeat.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109087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is classically done in EEGLAB (MATLAB, FMRIB plugin) — proprietary, manual, poorly reproducible. 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redo it in Python, open and reproducible?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GOALS &amp;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Reproduce, validate, and go further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1516" cy="1417320"/>
          </a:xfrm>
          <a:prstGeom prst="roundRect">
            <a:avLst>
              <a:gd name="adj" fmla="val 5806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2140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O1 · REPRODUCE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505456"/>
            <a:ext cx="48143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 from scratch each EEGLAB step in Python/MNE, including FASTR (gradient) and OBS (BCG), absent natively from MNE.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920240"/>
            <a:ext cx="5271516" cy="1417320"/>
          </a:xfrm>
          <a:prstGeom prst="roundRect">
            <a:avLst>
              <a:gd name="adj" fmla="val 5806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5956" y="212140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O2 · BUILD AN ML 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5956" y="2505456"/>
            <a:ext cx="48143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 describing the ICA components and label them.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5271516" cy="1417320"/>
          </a:xfrm>
          <a:prstGeom prst="roundRect">
            <a:avLst>
              <a:gd name="adj" fmla="val 5806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81304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O3 · MODEL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197096"/>
            <a:ext cx="48143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optimize a component classifier, compared to ICLabel (domain reference).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7356" y="3611880"/>
            <a:ext cx="5271516" cy="1417320"/>
          </a:xfrm>
          <a:prstGeom prst="roundRect">
            <a:avLst>
              <a:gd name="adj" fmla="val 5806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5956" y="381304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O4 · VALIDATE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5956" y="4197096"/>
            <a:ext cx="48143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Quantitatively compare EEGLAB and Python: spectrum, wavelets, ICA topographies, statistics.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ISIA competencies covered: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scientific knowledge · building learning datasets · model selection and optimization.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sub-38 — resting state, inside the scanner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048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(31 EEG 10-20 + 1 ECG)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7664" y="21488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0544" y="24048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Hz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590544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5248" y="21488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8128" y="24048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~392 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58128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per recording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42832" y="214884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25712" y="24048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125712" y="3200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(run-01, run-02)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43484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also runs on a simulated dataset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(1/f + alpha EEG, ECG, injected gradient artifact): runnable without real data, for demonstration and testing.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processing chain, step by step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detection</a:t>
            </a:r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fMRI volume marker, data-driven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496312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963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65960" y="2496312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artifact — AAS</a:t>
            </a:r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in-house, FASTR-style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118104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181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65960" y="3118104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 notch filter</a:t>
            </a:r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mains power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3989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3739896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detection</a:t>
            </a:r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heartbeat landmarks (ECG)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361688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616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4361688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artifact — OBS</a:t>
            </a:r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in-house, 4-component basis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83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1.7–1.9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965960" y="4983480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250 Hz · average ref · band-pass 1-40 Hz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5605272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6052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65960" y="5605272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— extended Infomax</a:t>
            </a:r>
            <a:pPr indent="0" marL="0">
              <a:buNone/>
            </a:pPr>
            <a:r>
              <a:rPr lang="en-US" sz="12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equivalent of runica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" y="6227064"/>
            <a:ext cx="10908792" cy="54864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622706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1.11–1.12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65960" y="6227064"/>
            <a:ext cx="9354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ICLabel · artifact removal · reconstruction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STEPS 1.2–1.3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&amp; gradient artifact (AAS)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71516" cy="2148840"/>
          </a:xfrm>
          <a:prstGeom prst="roundRect">
            <a:avLst>
              <a:gd name="adj" fmla="val 383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DATA-DRIVEN DETECTION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88336"/>
            <a:ext cx="48143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trigger is identified from the marker periodicity (coefficient of variation), without reading the docs — hence generalizable.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R128, TR ≈ 3 s, 120 volumes.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2103120"/>
            <a:ext cx="5271516" cy="2148840"/>
          </a:xfrm>
          <a:prstGeom prst="roundRect">
            <a:avLst>
              <a:gd name="adj" fmla="val 383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5956" y="230428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AAS — ALLEN 2000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5956" y="2688336"/>
            <a:ext cx="48143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is repetitive and synchronized: it is averaged over a sliding window of 30 occurrences then subtracted. In-house equivalent of FASTR.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mV bursts phase-locked to the volume.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µV range. 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B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over the window (else residuals, handled next).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STEPS 1.5–1.6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artifact — QRS + OBS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71516" cy="2148840"/>
          </a:xfrm>
          <a:prstGeom prst="roundRect">
            <a:avLst>
              <a:gd name="adj" fmla="val 383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 ECG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88336"/>
            <a:ext cx="48143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BCG is a mechanical consequence of the heartbeat: the ECG provides the precise timing (R-peak) at which to model the artifact.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767 beats detected (~117 bpm).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2103120"/>
            <a:ext cx="5271516" cy="2148840"/>
          </a:xfrm>
          <a:prstGeom prst="roundRect">
            <a:avLst>
              <a:gd name="adj" fmla="val 3830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5956" y="230428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 — NIAZY 2005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5956" y="2688336"/>
            <a:ext cx="48143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gradient, the BCG shape varies from beat to beat. Optimal basis = mean artifact + 4 principal components (SVD), projected then subtracted.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equivalent of pop_fmrib_pas mode 'obs' —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recoded from scratch, MNE having no native OBS.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STEPS 1.7–1.12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ICA and classification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20824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250 Hz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AAS/OBS (full resolution), before ICA (reduced cost).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reference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excluded; loss of one rank → 30 ICA components.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465576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1-40 Hz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Hz stabilizes ICA; 40 Hz cuts EMG and gradient residual.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215384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extended Infomax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runica; non-deterministic (hence the structural comparison in Phase 2).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965192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ICLabel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30 components flagged as artifact (blinks, muscle); conservative rejection.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EEGLAB vs Python: measure, do not assume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71516" cy="1691640"/>
          </a:xfrm>
          <a:prstGeom prst="roundRect">
            <a:avLst>
              <a:gd name="adj" fmla="val 4865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5000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SPECTRUM — WELCH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734056"/>
            <a:ext cx="48143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in dB; correlation + mean absolute error against the spectopo export. The signal follows the 1/f decay.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2148840"/>
            <a:ext cx="5271516" cy="1691640"/>
          </a:xfrm>
          <a:prstGeom prst="roundRect">
            <a:avLst>
              <a:gd name="adj" fmla="val 4865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5956" y="235000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TIME-FREQUENCY — MORLET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5956" y="2734056"/>
            <a:ext cx="48143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Morlet wavelets (= newtimef). Align number of cycles, frequencies and baseline.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5271516" cy="1691640"/>
          </a:xfrm>
          <a:prstGeom prst="roundRect">
            <a:avLst>
              <a:gd name="adj" fmla="val 4865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1596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ICA — STRUCTURAL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4700016"/>
            <a:ext cx="48143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topographies by absolute spatial correlation (ICA is not deterministic).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7356" y="4114800"/>
            <a:ext cx="5271516" cy="1691640"/>
          </a:xfrm>
          <a:prstGeom prst="roundRect">
            <a:avLst>
              <a:gd name="adj" fmla="val 4865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5956" y="431596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05956" y="4700016"/>
            <a:ext cx="48143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Wilcoxon, permutation, FDR correction — the lab's inference chain (demo, to aggregate multi-subject).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MACHINE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ICA-component classifier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20824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 / component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(band power, peak, 1/f slope), temporal (kurtosis, skewness), spatial (topography entropy).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ICLabel (cheap labels, but cap performance at 'imitate ICLabel').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465576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components generated for training; the 30 real ones reserved for testing.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215384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 families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SVM, gradient boosting — GridSearchCV, 5-fold cross-validation.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EAF3FA"/>
          </a:solidFill>
          <a:ln w="12700">
            <a:solidFill>
              <a:srgbClr val="C7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965192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ICLabel via Cohen's kappa.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56C7E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C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KEY RESULT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overfitting unmasked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25796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 w="19050">
            <a:solidFill>
              <a:srgbClr val="6A3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67712"/>
            <a:ext cx="146304" cy="146304"/>
          </a:xfrm>
          <a:prstGeom prst="ellipse">
            <a:avLst/>
          </a:prstGeom>
          <a:solidFill>
            <a:srgbClr val="F2704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4585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version (misleading)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724912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AUC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2724912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2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3127248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Kappa vs ICLabel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127248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27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45857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+ trivial synthetic test set. Inflated scores.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23076" y="2011680"/>
            <a:ext cx="5225796" cy="233172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 w="19050">
            <a:solidFill>
              <a:srgbClr val="2E6A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1676" y="2267712"/>
            <a:ext cx="146304" cy="146304"/>
          </a:xfrm>
          <a:prstGeom prst="ellipse">
            <a:avLst/>
          </a:prstGeom>
          <a:solidFill>
            <a:srgbClr val="5CD69A"/>
          </a:solidFill>
          <a:ln/>
        </p:spPr>
      </p:sp>
      <p:sp>
        <p:nvSpPr>
          <p:cNvPr id="15" name="Text 13"/>
          <p:cNvSpPr/>
          <p:nvPr/>
        </p:nvSpPr>
        <p:spPr>
          <a:xfrm>
            <a:off x="6780276" y="2194560"/>
            <a:ext cx="45857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protocol (honest)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43116" y="2670048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Synthetic AUC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43116" y="2670048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9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43116" y="3072384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AUC (OOS)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43116" y="3072384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0.50–0.67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43116" y="3474720"/>
            <a:ext cx="3945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D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Kappa vs ICLabel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43116" y="347472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0.067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643116" y="3858768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only, tested on real components never seen.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109087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overfit the artificial structure of the synthetic data: it does not transfer to real data. 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but informative result — a credible classifier needs real, multi-subject annotated components.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analysis: the cleaned signal is usable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per frequency band over time (spectrogram) on the clean signal — Python reproduction of the Assignment Part 3 MATLAB code.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9443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OF USE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328416"/>
            <a:ext cx="2935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directly usable for scientific analyses.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274320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9443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CHECK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6864" y="3328416"/>
            <a:ext cx="2935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spikes would betray an artifact residual not captured by ICA.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6448" y="2743200"/>
            <a:ext cx="3392424" cy="2011680"/>
          </a:xfrm>
          <a:prstGeom prst="roundRect">
            <a:avLst>
              <a:gd name="adj" fmla="val 4091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85048" y="2944368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85048" y="3328416"/>
            <a:ext cx="293522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· theta · alpha · beta · gamma.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B5860E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586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ASSUMED LIMITATIONS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write honestly in the report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20824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EAD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/ BCG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in-house AAS and OBS (not the full FASTR regularization).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EAD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ICA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comparison, not point by point.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EAD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465576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subject: ML not robust at this scale.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EAD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215384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→ real transfer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work; real multi-subject annotations are needed.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FBF1DD"/>
          </a:solidFill>
          <a:ln w="12700">
            <a:solidFill>
              <a:srgbClr val="EAD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965192"/>
            <a:ext cx="10268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comparisons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windowing and units before any conclusion.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1E7FB8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 &amp; PERSPECTIVES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7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open, reproducible and rigorous pipeline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71516" cy="3108960"/>
          </a:xfrm>
          <a:prstGeom prst="roundRect">
            <a:avLst>
              <a:gd name="adj" fmla="val 2647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0428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9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88336"/>
            <a:ext cx="48143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Complete EEG-fMRI pipeline reproduced in Python (FASTR &amp; OBS from scratch).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Ready EEGLAB-to-Python comparison chain.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Sound ML evaluation that unmasks over-optimism.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2103120"/>
            <a:ext cx="5271516" cy="3108960"/>
          </a:xfrm>
          <a:prstGeom prst="roundRect">
            <a:avLst>
              <a:gd name="adj" fmla="val 2647"/>
            </a:avLst>
          </a:prstGeom>
          <a:solidFill>
            <a:srgbClr val="F2F6FB"/>
          </a:solidFill>
          <a:ln w="12700">
            <a:solidFill>
              <a:srgbClr val="E1E9F3"/>
            </a:solidFill>
            <a:prstDash val="solid"/>
          </a:ln>
          <a:effectLst>
            <a:outerShdw sx="100000" sy="100000" kx="0" ky="0" algn="bl" rotWithShape="0" blurRad="114300" dist="38100" dir="5400000">
              <a:srgbClr val="7C8AA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5956" y="230428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PERSPECTIVES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5956" y="2688336"/>
            <a:ext cx="48143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Plug in the EEGLAB exports to quantify the equivalence.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Manually annotate the real components.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Aggregate several subjects for robust ML.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3C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Make the synthetic generator more realistic.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ellipse">
            <a:avLst/>
          </a:prstGeom>
          <a:solidFill>
            <a:srgbClr val="56C7E6"/>
          </a:solidFill>
          <a:ln/>
        </p:spPr>
      </p:sp>
      <p:sp>
        <p:nvSpPr>
          <p:cNvPr id="3" name="Text 1"/>
          <p:cNvSpPr/>
          <p:nvPr/>
        </p:nvSpPr>
        <p:spPr>
          <a:xfrm>
            <a:off x="859536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C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 &amp;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271516" cy="2377440"/>
          </a:xfrm>
          <a:prstGeom prst="roundRect">
            <a:avLst>
              <a:gd name="adj" fmla="val 3462"/>
            </a:avLst>
          </a:prstGeom>
          <a:solidFill>
            <a:srgbClr val="16213A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85292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C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3236976"/>
            <a:ext cx="48143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 &amp; EN notebooks (executed, Protocol + Analysis boxes).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Detailed .txt explanations (FR &amp; EN).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Presentation (HTML slides + PPTX) · requirements.txt.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2651760"/>
            <a:ext cx="5271516" cy="2377440"/>
          </a:xfrm>
          <a:prstGeom prst="roundRect">
            <a:avLst>
              <a:gd name="adj" fmla="val 3462"/>
            </a:avLst>
          </a:prstGeom>
          <a:solidFill>
            <a:srgbClr val="16213A"/>
          </a:solidFill>
          <a:ln w="12700">
            <a:solidFill>
              <a:srgbClr val="243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2852928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C7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STACK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05956" y="3236976"/>
            <a:ext cx="48143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MNE · mne-icalabel · scikit-learn · scipy · statsmodels · pandas · matplotlib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seeds · logged states · EEGLAB-aligned naming.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Aymen Khatrani — MIMLAB, Boğaziçi University.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EEG-fMRI Pipeline in Python</dc:title>
  <dc:subject>PptxGenJS Presentation</dc:subject>
  <dc:creator>Aymen Khatrani</dc:creator>
  <cp:lastModifiedBy>Aymen Khatrani</cp:lastModifiedBy>
  <cp:revision>1</cp:revision>
  <dcterms:created xsi:type="dcterms:W3CDTF">2026-08-04T19:18:04Z</dcterms:created>
  <dcterms:modified xsi:type="dcterms:W3CDTF">2026-08-04T19:18:04Z</dcterms:modified>
</cp:coreProperties>
</file>